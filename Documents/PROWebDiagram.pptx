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8" autoAdjust="0"/>
    <p:restoredTop sz="94660"/>
  </p:normalViewPr>
  <p:slideViewPr>
    <p:cSldViewPr snapToGrid="0">
      <p:cViewPr varScale="1">
        <p:scale>
          <a:sx n="155" d="100"/>
          <a:sy n="155" d="100"/>
        </p:scale>
        <p:origin x="162" y="24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C043-F6CC-47A5-993E-D2C01978BE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8D67C969-929E-4A43-AB7B-0CB7F9B54B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28F70904-2E1F-4781-AF14-DBF435E87184}"/>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2291434B-7207-4867-88EB-CD73DEDFAA5B}"/>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61B45CD-360C-4D9C-AE52-6D5135656F5C}"/>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1914912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F6515-6C2E-49D3-93A6-7BCB2A3F770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26B62EA-B5C2-48AB-9AB3-4D45711F9B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DF1B2B2-289E-4E07-8310-1CEC1220FF4D}"/>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A031A66A-9846-444B-AFAB-080F8E03183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310662A-7B0E-4648-8A5D-9B49D2A71CD4}"/>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1168673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8BC0-F56A-47BD-91A8-9118A0D88B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32E01E9F-CFE6-41A9-8A70-C075B8669B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967F83-D348-4969-BD01-5F1428066FFB}"/>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5FE1C1E9-B6B4-45B9-A2F9-FAFEE0784D1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4E51F70-DED9-4261-97C0-B0ACAB8D7C15}"/>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3702876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F494A-EFCC-49C1-8D25-A5801D697EA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AC9D77B-2C46-4151-94D0-B1F9FCC655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14FF4E5-B4FE-4F57-A1CE-1A7F73B80C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07037E64-6E83-42DE-A34D-B91176B58828}"/>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6" name="Footer Placeholder 5">
            <a:extLst>
              <a:ext uri="{FF2B5EF4-FFF2-40B4-BE49-F238E27FC236}">
                <a16:creationId xmlns:a16="http://schemas.microsoft.com/office/drawing/2014/main" id="{F2BE8AA0-4B35-4C6F-8A4E-5E87550FBEB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3B6A219-F899-4FFD-BFC1-EC5A4BCFAB69}"/>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40734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D438-EC5B-4943-8AE2-439F25ABAA06}"/>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6E98D2E2-14D7-40F5-9A74-0C9E7A4114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FA99C2-75D9-4A91-B837-A0904213A6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488E678E-2EDA-4B9B-A0C1-E3B4F4725C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3F57A1-492E-4B43-8293-690BA3EC13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6B6EC385-6C89-48F6-8506-72966AAC40A2}"/>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8" name="Footer Placeholder 7">
            <a:extLst>
              <a:ext uri="{FF2B5EF4-FFF2-40B4-BE49-F238E27FC236}">
                <a16:creationId xmlns:a16="http://schemas.microsoft.com/office/drawing/2014/main" id="{2F71EF78-EC1E-4BFE-A450-52EF87E6931F}"/>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05BABAD7-BC67-4E4E-B759-E68835D1E532}"/>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1087119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F2ACB-FA09-4991-8808-557032FDF39B}"/>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E1AE0D7A-9A88-4267-A6FC-D09DF304D16F}"/>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4" name="Footer Placeholder 3">
            <a:extLst>
              <a:ext uri="{FF2B5EF4-FFF2-40B4-BE49-F238E27FC236}">
                <a16:creationId xmlns:a16="http://schemas.microsoft.com/office/drawing/2014/main" id="{1785E7C4-212C-491D-9DA9-8AF30F3DE5A1}"/>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D639D099-CF45-42D5-B378-15B700F6BAF9}"/>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3925962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9E67AE-F587-4C76-9CEE-E32219A4C4E7}"/>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3" name="Footer Placeholder 2">
            <a:extLst>
              <a:ext uri="{FF2B5EF4-FFF2-40B4-BE49-F238E27FC236}">
                <a16:creationId xmlns:a16="http://schemas.microsoft.com/office/drawing/2014/main" id="{56A5723A-B54C-40F7-AA52-72BE4503DF17}"/>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5E81693E-8769-44D8-B723-B50255A36228}"/>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3759173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5705-19A2-494F-9ABD-B890127AA2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17CD2D56-7F72-49AD-A01E-D8B607B424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3AC652CD-FE95-4581-B2FC-648652C99D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26746F-1379-403E-A704-1A69C6FAB56E}"/>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6" name="Footer Placeholder 5">
            <a:extLst>
              <a:ext uri="{FF2B5EF4-FFF2-40B4-BE49-F238E27FC236}">
                <a16:creationId xmlns:a16="http://schemas.microsoft.com/office/drawing/2014/main" id="{2293B0C8-7F93-426A-9A93-8BB224D6B22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D490364-BC28-463C-B68A-E316BB979142}"/>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360929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56777-CD82-4A20-9DFC-BA6D48DCAD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A728FEE0-6324-443C-A0D0-3AC45174F9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ED505ECA-3614-4DBA-A43C-E54575D7D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C245CB-C917-4879-A125-96272645EB63}"/>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6" name="Footer Placeholder 5">
            <a:extLst>
              <a:ext uri="{FF2B5EF4-FFF2-40B4-BE49-F238E27FC236}">
                <a16:creationId xmlns:a16="http://schemas.microsoft.com/office/drawing/2014/main" id="{8B783F51-2474-49BE-93A8-72890EE0FFEB}"/>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DEB19907-34BD-4721-AF04-38C330962E6A}"/>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976950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5D45-684B-4CE9-9D41-61A110494BD7}"/>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7448BAC-5839-42DA-86E4-42C2700445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90A0DFED-4B77-4D35-9084-814CC4374F67}"/>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B4488133-4A1D-441E-9C21-D82F4FACA3F1}"/>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1969303-95FD-4A00-879C-7060B961ECFB}"/>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943433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EC3D16-6150-4545-A416-C531F36D7B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38674D5D-6602-4B97-8483-AC892BDF10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C605ABFF-1777-4951-A281-7511B12F0E31}"/>
              </a:ext>
            </a:extLst>
          </p:cNvPr>
          <p:cNvSpPr>
            <a:spLocks noGrp="1"/>
          </p:cNvSpPr>
          <p:nvPr>
            <p:ph type="dt" sz="half" idx="10"/>
          </p:nvPr>
        </p:nvSpPr>
        <p:spPr/>
        <p:txBody>
          <a:body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6046E233-024D-4B5A-8F5C-2EB49462FA7D}"/>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1B2307E-735C-4BD8-88EA-7B4DEC85FB9A}"/>
              </a:ext>
            </a:extLst>
          </p:cNvPr>
          <p:cNvSpPr>
            <a:spLocks noGrp="1"/>
          </p:cNvSpPr>
          <p:nvPr>
            <p:ph type="sldNum" sz="quarter" idx="12"/>
          </p:nvPr>
        </p:nvSpPr>
        <p:spPr/>
        <p:txBody>
          <a:bodyPr/>
          <a:lstStyle/>
          <a:p>
            <a:fld id="{E9987546-EF3D-409D-9A30-B21E708E17A1}" type="slidenum">
              <a:rPr lang="LID4096" smtClean="0"/>
              <a:t>‹#›</a:t>
            </a:fld>
            <a:endParaRPr lang="LID4096"/>
          </a:p>
        </p:txBody>
      </p:sp>
    </p:spTree>
    <p:extLst>
      <p:ext uri="{BB962C8B-B14F-4D97-AF65-F5344CB8AC3E}">
        <p14:creationId xmlns:p14="http://schemas.microsoft.com/office/powerpoint/2010/main" val="3072025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C5FE31-B283-46AA-829D-74211DE3E0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65F12D8F-FBCD-4275-9570-7DC5B513CD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F330D23-D302-46F7-8641-DEC6AEA078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E1E2DD-9B09-4125-A401-990646FFA049}" type="datetimeFigureOut">
              <a:rPr lang="LID4096" smtClean="0"/>
              <a:t>02/08/2026</a:t>
            </a:fld>
            <a:endParaRPr lang="LID4096"/>
          </a:p>
        </p:txBody>
      </p:sp>
      <p:sp>
        <p:nvSpPr>
          <p:cNvPr id="5" name="Footer Placeholder 4">
            <a:extLst>
              <a:ext uri="{FF2B5EF4-FFF2-40B4-BE49-F238E27FC236}">
                <a16:creationId xmlns:a16="http://schemas.microsoft.com/office/drawing/2014/main" id="{3081C413-320D-417B-9833-0724D76AD0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6D47A9C2-E7A8-4F3C-8622-8572805911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987546-EF3D-409D-9A30-B21E708E17A1}" type="slidenum">
              <a:rPr lang="LID4096" smtClean="0"/>
              <a:t>‹#›</a:t>
            </a:fld>
            <a:endParaRPr lang="LID4096"/>
          </a:p>
        </p:txBody>
      </p:sp>
    </p:spTree>
    <p:extLst>
      <p:ext uri="{BB962C8B-B14F-4D97-AF65-F5344CB8AC3E}">
        <p14:creationId xmlns:p14="http://schemas.microsoft.com/office/powerpoint/2010/main" val="125689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CA5EA55-118B-4122-8244-AA6D2FFD21C8}"/>
              </a:ext>
            </a:extLst>
          </p:cNvPr>
          <p:cNvSpPr/>
          <p:nvPr/>
        </p:nvSpPr>
        <p:spPr>
          <a:xfrm>
            <a:off x="2917221" y="2110390"/>
            <a:ext cx="2204651" cy="6665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 Web App</a:t>
            </a:r>
            <a:endParaRPr lang="LID4096" dirty="0"/>
          </a:p>
        </p:txBody>
      </p:sp>
      <p:sp>
        <p:nvSpPr>
          <p:cNvPr id="5" name="Rectangle: Rounded Corners 4">
            <a:extLst>
              <a:ext uri="{FF2B5EF4-FFF2-40B4-BE49-F238E27FC236}">
                <a16:creationId xmlns:a16="http://schemas.microsoft.com/office/drawing/2014/main" id="{A48E292F-7035-49A0-A6EE-A83AD0391803}"/>
              </a:ext>
            </a:extLst>
          </p:cNvPr>
          <p:cNvSpPr/>
          <p:nvPr/>
        </p:nvSpPr>
        <p:spPr>
          <a:xfrm>
            <a:off x="516924" y="2086002"/>
            <a:ext cx="1691847" cy="71534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SQL Server</a:t>
            </a:r>
            <a:endParaRPr lang="LID4096" dirty="0"/>
          </a:p>
        </p:txBody>
      </p:sp>
      <p:sp>
        <p:nvSpPr>
          <p:cNvPr id="6" name="Rectangle: Rounded Corners 5">
            <a:extLst>
              <a:ext uri="{FF2B5EF4-FFF2-40B4-BE49-F238E27FC236}">
                <a16:creationId xmlns:a16="http://schemas.microsoft.com/office/drawing/2014/main" id="{68EE66BF-1F2D-42BC-80ED-DD516D847BDC}"/>
              </a:ext>
            </a:extLst>
          </p:cNvPr>
          <p:cNvSpPr/>
          <p:nvPr/>
        </p:nvSpPr>
        <p:spPr>
          <a:xfrm>
            <a:off x="1138881" y="3761374"/>
            <a:ext cx="2749378" cy="108739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r>
              <a:rPr lang="en-US" dirty="0"/>
              <a:t>External Data Rest API</a:t>
            </a:r>
          </a:p>
          <a:p>
            <a:pPr algn="ctr"/>
            <a:r>
              <a:rPr lang="en-US" sz="1100" dirty="0"/>
              <a:t>TCD Data Rest API</a:t>
            </a:r>
          </a:p>
          <a:p>
            <a:pPr algn="ctr"/>
            <a:r>
              <a:rPr lang="en-US" sz="1100" dirty="0"/>
              <a:t>Registry General Rest API</a:t>
            </a:r>
          </a:p>
          <a:p>
            <a:pPr algn="ctr"/>
            <a:r>
              <a:rPr lang="en-US" sz="1100" dirty="0"/>
              <a:t>Land Valuation API</a:t>
            </a:r>
          </a:p>
          <a:p>
            <a:pPr algn="ctr"/>
            <a:r>
              <a:rPr lang="en-US" sz="1100" dirty="0"/>
              <a:t>Immigration API</a:t>
            </a:r>
          </a:p>
          <a:p>
            <a:pPr algn="ctr"/>
            <a:endParaRPr lang="en-US" sz="1100" dirty="0"/>
          </a:p>
          <a:p>
            <a:pPr algn="ctr"/>
            <a:endParaRPr lang="en-US" sz="1100" dirty="0"/>
          </a:p>
          <a:p>
            <a:pPr algn="ctr"/>
            <a:endParaRPr lang="en-US" sz="1100" dirty="0"/>
          </a:p>
          <a:p>
            <a:pPr algn="ctr"/>
            <a:endParaRPr lang="LID4096" sz="1100" dirty="0"/>
          </a:p>
        </p:txBody>
      </p:sp>
      <p:sp>
        <p:nvSpPr>
          <p:cNvPr id="7" name="Rectangle: Rounded Corners 6">
            <a:extLst>
              <a:ext uri="{FF2B5EF4-FFF2-40B4-BE49-F238E27FC236}">
                <a16:creationId xmlns:a16="http://schemas.microsoft.com/office/drawing/2014/main" id="{594CAF95-ABB3-4B5B-B6FA-6B01DD44F10A}"/>
              </a:ext>
            </a:extLst>
          </p:cNvPr>
          <p:cNvSpPr/>
          <p:nvPr/>
        </p:nvSpPr>
        <p:spPr>
          <a:xfrm>
            <a:off x="4721311" y="3711827"/>
            <a:ext cx="2749378" cy="1087395"/>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External Users Rest API</a:t>
            </a:r>
          </a:p>
          <a:p>
            <a:pPr algn="ctr"/>
            <a:r>
              <a:rPr lang="en-US" sz="1000" dirty="0"/>
              <a:t>PRO Public Web Site Rest API </a:t>
            </a:r>
            <a:endParaRPr lang="LID4096" sz="1000" dirty="0"/>
          </a:p>
          <a:p>
            <a:pPr algn="ctr"/>
            <a:endParaRPr lang="LID4096" sz="1000" dirty="0"/>
          </a:p>
          <a:p>
            <a:pPr algn="ctr"/>
            <a:endParaRPr lang="LID4096" dirty="0"/>
          </a:p>
        </p:txBody>
      </p:sp>
      <p:sp>
        <p:nvSpPr>
          <p:cNvPr id="8" name="Rectangle: Rounded Corners 7">
            <a:extLst>
              <a:ext uri="{FF2B5EF4-FFF2-40B4-BE49-F238E27FC236}">
                <a16:creationId xmlns:a16="http://schemas.microsoft.com/office/drawing/2014/main" id="{AB1D551D-3E82-41C3-A89C-BA4359BAF31C}"/>
              </a:ext>
            </a:extLst>
          </p:cNvPr>
          <p:cNvSpPr/>
          <p:nvPr/>
        </p:nvSpPr>
        <p:spPr>
          <a:xfrm>
            <a:off x="4721311" y="5617172"/>
            <a:ext cx="2749378" cy="596218"/>
          </a:xfrm>
          <a:prstGeom prst="round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 Public Web Site </a:t>
            </a:r>
            <a:endParaRPr lang="LID4096" dirty="0"/>
          </a:p>
        </p:txBody>
      </p:sp>
      <p:cxnSp>
        <p:nvCxnSpPr>
          <p:cNvPr id="14" name="Straight Arrow Connector 13">
            <a:extLst>
              <a:ext uri="{FF2B5EF4-FFF2-40B4-BE49-F238E27FC236}">
                <a16:creationId xmlns:a16="http://schemas.microsoft.com/office/drawing/2014/main" id="{9510EC80-AB4A-43AE-A1D6-DDECFB309DE5}"/>
              </a:ext>
            </a:extLst>
          </p:cNvPr>
          <p:cNvCxnSpPr>
            <a:cxnSpLocks/>
            <a:stCxn id="5" idx="2"/>
            <a:endCxn id="7" idx="0"/>
          </p:cNvCxnSpPr>
          <p:nvPr/>
        </p:nvCxnSpPr>
        <p:spPr>
          <a:xfrm>
            <a:off x="1362848" y="2801342"/>
            <a:ext cx="4733152" cy="910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7B1B554-3BB1-428C-82A5-F3A6A24A03E8}"/>
              </a:ext>
            </a:extLst>
          </p:cNvPr>
          <p:cNvCxnSpPr>
            <a:cxnSpLocks/>
            <a:stCxn id="6" idx="0"/>
            <a:endCxn id="5" idx="2"/>
          </p:cNvCxnSpPr>
          <p:nvPr/>
        </p:nvCxnSpPr>
        <p:spPr>
          <a:xfrm flipH="1" flipV="1">
            <a:off x="1362848" y="2801342"/>
            <a:ext cx="1150722" cy="960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6FC55B9-0474-43DB-A11D-BAF4A5DE6181}"/>
              </a:ext>
            </a:extLst>
          </p:cNvPr>
          <p:cNvCxnSpPr>
            <a:cxnSpLocks/>
            <a:stCxn id="5" idx="3"/>
            <a:endCxn id="4" idx="1"/>
          </p:cNvCxnSpPr>
          <p:nvPr/>
        </p:nvCxnSpPr>
        <p:spPr>
          <a:xfrm>
            <a:off x="2208771" y="2443672"/>
            <a:ext cx="7084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CB2BFF6-9F05-4CEE-BC93-6E46E8A066C2}"/>
              </a:ext>
            </a:extLst>
          </p:cNvPr>
          <p:cNvCxnSpPr>
            <a:cxnSpLocks/>
            <a:stCxn id="7" idx="2"/>
            <a:endCxn id="8" idx="0"/>
          </p:cNvCxnSpPr>
          <p:nvPr/>
        </p:nvCxnSpPr>
        <p:spPr>
          <a:xfrm>
            <a:off x="6096000" y="4799222"/>
            <a:ext cx="0" cy="817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F288C3BF-C024-4778-95F9-7345B4BFE7BF}"/>
              </a:ext>
            </a:extLst>
          </p:cNvPr>
          <p:cNvSpPr/>
          <p:nvPr/>
        </p:nvSpPr>
        <p:spPr>
          <a:xfrm>
            <a:off x="3236306" y="777588"/>
            <a:ext cx="1566477" cy="40777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PRO Officers</a:t>
            </a:r>
            <a:endParaRPr lang="LID4096" sz="1100" dirty="0"/>
          </a:p>
        </p:txBody>
      </p:sp>
      <p:sp>
        <p:nvSpPr>
          <p:cNvPr id="43" name="Oval 42">
            <a:extLst>
              <a:ext uri="{FF2B5EF4-FFF2-40B4-BE49-F238E27FC236}">
                <a16:creationId xmlns:a16="http://schemas.microsoft.com/office/drawing/2014/main" id="{09334BF0-41C6-4C16-88EF-436EED249840}"/>
              </a:ext>
            </a:extLst>
          </p:cNvPr>
          <p:cNvSpPr/>
          <p:nvPr/>
        </p:nvSpPr>
        <p:spPr>
          <a:xfrm>
            <a:off x="5312759" y="6383351"/>
            <a:ext cx="1566477" cy="40777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100" dirty="0"/>
              <a:t>Public Access</a:t>
            </a:r>
            <a:endParaRPr lang="LID4096" sz="1100" dirty="0"/>
          </a:p>
        </p:txBody>
      </p:sp>
      <p:cxnSp>
        <p:nvCxnSpPr>
          <p:cNvPr id="45" name="Straight Arrow Connector 44">
            <a:extLst>
              <a:ext uri="{FF2B5EF4-FFF2-40B4-BE49-F238E27FC236}">
                <a16:creationId xmlns:a16="http://schemas.microsoft.com/office/drawing/2014/main" id="{0FB5228F-6D03-40C0-BE3B-A72A72E160C7}"/>
              </a:ext>
            </a:extLst>
          </p:cNvPr>
          <p:cNvCxnSpPr>
            <a:cxnSpLocks/>
            <a:stCxn id="8" idx="2"/>
            <a:endCxn id="43" idx="0"/>
          </p:cNvCxnSpPr>
          <p:nvPr/>
        </p:nvCxnSpPr>
        <p:spPr>
          <a:xfrm flipH="1">
            <a:off x="6095998" y="6213390"/>
            <a:ext cx="2" cy="169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Rounded Corners 53">
            <a:extLst>
              <a:ext uri="{FF2B5EF4-FFF2-40B4-BE49-F238E27FC236}">
                <a16:creationId xmlns:a16="http://schemas.microsoft.com/office/drawing/2014/main" id="{087AD89A-9B45-4E50-843C-19BD939CB794}"/>
              </a:ext>
            </a:extLst>
          </p:cNvPr>
          <p:cNvSpPr/>
          <p:nvPr/>
        </p:nvSpPr>
        <p:spPr>
          <a:xfrm>
            <a:off x="3604564" y="1389246"/>
            <a:ext cx="829963" cy="407772"/>
          </a:xfrm>
          <a:prstGeom prst="roundRect">
            <a:avLst/>
          </a:prstGeom>
          <a:solidFill>
            <a:schemeClr val="bg1">
              <a:lumMod val="5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MFA</a:t>
            </a:r>
            <a:endParaRPr lang="LID4096" dirty="0"/>
          </a:p>
        </p:txBody>
      </p:sp>
      <p:cxnSp>
        <p:nvCxnSpPr>
          <p:cNvPr id="58" name="Straight Arrow Connector 57">
            <a:extLst>
              <a:ext uri="{FF2B5EF4-FFF2-40B4-BE49-F238E27FC236}">
                <a16:creationId xmlns:a16="http://schemas.microsoft.com/office/drawing/2014/main" id="{AC6BE457-D16B-4DD0-9C91-824B7041BD65}"/>
              </a:ext>
            </a:extLst>
          </p:cNvPr>
          <p:cNvCxnSpPr>
            <a:cxnSpLocks/>
            <a:stCxn id="40" idx="4"/>
            <a:endCxn id="4" idx="0"/>
          </p:cNvCxnSpPr>
          <p:nvPr/>
        </p:nvCxnSpPr>
        <p:spPr>
          <a:xfrm>
            <a:off x="4019545" y="1185360"/>
            <a:ext cx="2" cy="925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2C6B6B1A-E0B6-42CE-96A2-A9748F4210ED}"/>
              </a:ext>
            </a:extLst>
          </p:cNvPr>
          <p:cNvSpPr/>
          <p:nvPr/>
        </p:nvSpPr>
        <p:spPr>
          <a:xfrm>
            <a:off x="314403" y="488611"/>
            <a:ext cx="7426883" cy="453011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87" name="Rectangle: Rounded Corners 86">
            <a:extLst>
              <a:ext uri="{FF2B5EF4-FFF2-40B4-BE49-F238E27FC236}">
                <a16:creationId xmlns:a16="http://schemas.microsoft.com/office/drawing/2014/main" id="{63FE9EA8-FBD8-4532-8E64-A3DD4245BC68}"/>
              </a:ext>
            </a:extLst>
          </p:cNvPr>
          <p:cNvSpPr/>
          <p:nvPr/>
        </p:nvSpPr>
        <p:spPr>
          <a:xfrm>
            <a:off x="5681015" y="5090495"/>
            <a:ext cx="829963" cy="407772"/>
          </a:xfrm>
          <a:prstGeom prst="roundRect">
            <a:avLst/>
          </a:prstGeom>
          <a:solidFill>
            <a:schemeClr val="bg1">
              <a:lumMod val="5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JWT</a:t>
            </a:r>
          </a:p>
        </p:txBody>
      </p:sp>
      <p:cxnSp>
        <p:nvCxnSpPr>
          <p:cNvPr id="89" name="Straight Arrow Connector 88">
            <a:extLst>
              <a:ext uri="{FF2B5EF4-FFF2-40B4-BE49-F238E27FC236}">
                <a16:creationId xmlns:a16="http://schemas.microsoft.com/office/drawing/2014/main" id="{439A0DBD-3EBD-4C84-93E8-3B3C2CEBB86B}"/>
              </a:ext>
            </a:extLst>
          </p:cNvPr>
          <p:cNvCxnSpPr>
            <a:stCxn id="6" idx="0"/>
            <a:endCxn id="4" idx="2"/>
          </p:cNvCxnSpPr>
          <p:nvPr/>
        </p:nvCxnSpPr>
        <p:spPr>
          <a:xfrm flipV="1">
            <a:off x="2513570" y="2776954"/>
            <a:ext cx="1505977" cy="984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D685787B-CE59-4B52-B7FA-1816AE181AB7}"/>
              </a:ext>
            </a:extLst>
          </p:cNvPr>
          <p:cNvSpPr/>
          <p:nvPr/>
        </p:nvSpPr>
        <p:spPr>
          <a:xfrm>
            <a:off x="2502239" y="3232095"/>
            <a:ext cx="829963" cy="407772"/>
          </a:xfrm>
          <a:prstGeom prst="roundRect">
            <a:avLst/>
          </a:prstGeom>
          <a:solidFill>
            <a:schemeClr val="bg1">
              <a:lumMod val="5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JWT</a:t>
            </a:r>
          </a:p>
        </p:txBody>
      </p:sp>
      <p:sp>
        <p:nvSpPr>
          <p:cNvPr id="93" name="Rectangle 92">
            <a:extLst>
              <a:ext uri="{FF2B5EF4-FFF2-40B4-BE49-F238E27FC236}">
                <a16:creationId xmlns:a16="http://schemas.microsoft.com/office/drawing/2014/main" id="{3CFC0137-372F-4DB3-9C3D-5786FB729591}"/>
              </a:ext>
            </a:extLst>
          </p:cNvPr>
          <p:cNvSpPr/>
          <p:nvPr/>
        </p:nvSpPr>
        <p:spPr>
          <a:xfrm>
            <a:off x="4482924" y="3552899"/>
            <a:ext cx="3175941" cy="1396401"/>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96" name="TextBox 95">
            <a:extLst>
              <a:ext uri="{FF2B5EF4-FFF2-40B4-BE49-F238E27FC236}">
                <a16:creationId xmlns:a16="http://schemas.microsoft.com/office/drawing/2014/main" id="{2D913076-D3D5-4E0E-9899-26EA1A0F5C8E}"/>
              </a:ext>
            </a:extLst>
          </p:cNvPr>
          <p:cNvSpPr txBox="1"/>
          <p:nvPr/>
        </p:nvSpPr>
        <p:spPr>
          <a:xfrm>
            <a:off x="5393834" y="3169491"/>
            <a:ext cx="1426994" cy="369332"/>
          </a:xfrm>
          <a:prstGeom prst="rect">
            <a:avLst/>
          </a:prstGeom>
          <a:noFill/>
        </p:spPr>
        <p:txBody>
          <a:bodyPr wrap="none" rtlCol="0">
            <a:spAutoFit/>
          </a:bodyPr>
          <a:lstStyle/>
          <a:p>
            <a:r>
              <a:rPr lang="en-US" dirty="0"/>
              <a:t>Public Access</a:t>
            </a:r>
            <a:endParaRPr lang="LID4096" dirty="0"/>
          </a:p>
        </p:txBody>
      </p:sp>
      <p:sp>
        <p:nvSpPr>
          <p:cNvPr id="97" name="TextBox 96">
            <a:extLst>
              <a:ext uri="{FF2B5EF4-FFF2-40B4-BE49-F238E27FC236}">
                <a16:creationId xmlns:a16="http://schemas.microsoft.com/office/drawing/2014/main" id="{46169F26-8F6C-4EB8-87A2-616D234CA123}"/>
              </a:ext>
            </a:extLst>
          </p:cNvPr>
          <p:cNvSpPr txBox="1"/>
          <p:nvPr/>
        </p:nvSpPr>
        <p:spPr>
          <a:xfrm>
            <a:off x="3258979" y="69721"/>
            <a:ext cx="1473737" cy="646331"/>
          </a:xfrm>
          <a:prstGeom prst="rect">
            <a:avLst/>
          </a:prstGeom>
          <a:noFill/>
        </p:spPr>
        <p:txBody>
          <a:bodyPr wrap="none" rtlCol="0">
            <a:spAutoFit/>
          </a:bodyPr>
          <a:lstStyle/>
          <a:p>
            <a:r>
              <a:rPr lang="en-US" dirty="0"/>
              <a:t>GOV Network</a:t>
            </a:r>
          </a:p>
          <a:p>
            <a:endParaRPr lang="LID4096" dirty="0"/>
          </a:p>
        </p:txBody>
      </p:sp>
      <p:sp>
        <p:nvSpPr>
          <p:cNvPr id="98" name="TextBox 97">
            <a:extLst>
              <a:ext uri="{FF2B5EF4-FFF2-40B4-BE49-F238E27FC236}">
                <a16:creationId xmlns:a16="http://schemas.microsoft.com/office/drawing/2014/main" id="{8BD9DD70-4667-40D4-850D-378695C9EECA}"/>
              </a:ext>
            </a:extLst>
          </p:cNvPr>
          <p:cNvSpPr txBox="1"/>
          <p:nvPr/>
        </p:nvSpPr>
        <p:spPr>
          <a:xfrm>
            <a:off x="8753111" y="716052"/>
            <a:ext cx="3124486" cy="3647152"/>
          </a:xfrm>
          <a:prstGeom prst="rect">
            <a:avLst/>
          </a:prstGeom>
          <a:noFill/>
        </p:spPr>
        <p:txBody>
          <a:bodyPr wrap="square" rtlCol="0">
            <a:spAutoFit/>
          </a:bodyPr>
          <a:lstStyle/>
          <a:p>
            <a:r>
              <a:rPr lang="en-US" sz="1100"/>
              <a:t>This diagram </a:t>
            </a:r>
            <a:r>
              <a:rPr lang="en-US" sz="1100" dirty="0"/>
              <a:t>provides a high-level overview of the PRO+ Web Application. The initial implementation will be hosted within the government network and will not be publicly accessible. However, PRO officers will be required to use multi-factor authentication (MFA) to access the system. SQL Server will be used as the primary data repository.</a:t>
            </a:r>
          </a:p>
          <a:p>
            <a:r>
              <a:rPr lang="en-US" sz="1100" dirty="0"/>
              <a:t>A key component of the system will be its REST API services. External data will be collected via REST APIs designed to adapt to data formats provided by external parties. Likewise, data exposed to public consumers will also be delivered through REST APIs. All REST API services will use JWT-based authentication and SSL to secure access to endpoints. Services that expose data to the public will continue to reside within the government network.</a:t>
            </a:r>
          </a:p>
          <a:p>
            <a:r>
              <a:rPr lang="en-US" sz="1100" dirty="0"/>
              <a:t>Currently, the PRO Public Website REST API is implemented and connected to the existing PRO+ system. As part of the migration, it will be reconnected to the new database.</a:t>
            </a:r>
          </a:p>
        </p:txBody>
      </p:sp>
    </p:spTree>
    <p:extLst>
      <p:ext uri="{BB962C8B-B14F-4D97-AF65-F5344CB8AC3E}">
        <p14:creationId xmlns:p14="http://schemas.microsoft.com/office/powerpoint/2010/main" val="2500750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Words>
  <Application>Microsoft Office PowerPoint</Application>
  <PresentationFormat>Widescreen</PresentationFormat>
  <Paragraphs>24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Igor Stefanovic</dc:creator>
  <cp:lastModifiedBy>Igor Stefanovic</cp:lastModifiedBy>
  <cp:revision>9</cp:revision>
  <dcterms:created xsi:type="dcterms:W3CDTF">2026-02-07T11:18:40Z</dcterms:created>
  <dcterms:modified xsi:type="dcterms:W3CDTF">2026-02-08T13:35:13Z</dcterms:modified>
</cp:coreProperties>
</file>